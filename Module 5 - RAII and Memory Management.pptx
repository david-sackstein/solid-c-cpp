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90" r:id="rId4"/>
    <p:sldId id="291" r:id="rId5"/>
    <p:sldId id="297" r:id="rId6"/>
    <p:sldId id="293" r:id="rId7"/>
    <p:sldId id="292" r:id="rId8"/>
    <p:sldId id="300" r:id="rId9"/>
    <p:sldId id="294" r:id="rId10"/>
    <p:sldId id="301" r:id="rId11"/>
    <p:sldId id="299" r:id="rId12"/>
    <p:sldId id="295" r:id="rId13"/>
    <p:sldId id="302" r:id="rId14"/>
    <p:sldId id="296" r:id="rId15"/>
    <p:sldId id="303" r:id="rId16"/>
    <p:sldId id="304" r:id="rId17"/>
    <p:sldId id="305" r:id="rId18"/>
    <p:sldId id="28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660" autoAdjust="0"/>
  </p:normalViewPr>
  <p:slideViewPr>
    <p:cSldViewPr>
      <p:cViewPr>
        <p:scale>
          <a:sx n="90" d="100"/>
          <a:sy n="90" d="100"/>
        </p:scale>
        <p:origin x="1178" y="3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960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4CE6AF-D938-7C85-3949-7D2A7663097B}"/>
              </a:ext>
            </a:extLst>
          </p:cNvPr>
          <p:cNvSpPr/>
          <p:nvPr userDrawn="1"/>
        </p:nvSpPr>
        <p:spPr>
          <a:xfrm flipV="1">
            <a:off x="457200" y="1324294"/>
            <a:ext cx="82296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30000">
                <a:srgbClr val="0070C0"/>
              </a:gs>
              <a:gs pos="6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21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57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56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76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36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8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36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9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66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3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982D4-381D-4B7B-A1A5-B3B6E72EF21D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25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RAII and Memory Management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886DCAD-DBB1-9DE7-71F2-F6B8D77DD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838200"/>
          </a:xfrm>
        </p:spPr>
        <p:txBody>
          <a:bodyPr/>
          <a:lstStyle/>
          <a:p>
            <a:r>
              <a:rPr lang="en-US" dirty="0"/>
              <a:t>David Sackstein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8CEE2F-B409-CB85-BA5D-5D85257E71D8}"/>
              </a:ext>
            </a:extLst>
          </p:cNvPr>
          <p:cNvSpPr txBox="1"/>
          <p:nvPr/>
        </p:nvSpPr>
        <p:spPr>
          <a:xfrm>
            <a:off x="3581400" y="5774267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tint val="75000"/>
                  </a:schemeClr>
                </a:solidFill>
              </a:rPr>
              <a:t>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682301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The resource management problem</a:t>
            </a:r>
          </a:p>
          <a:p>
            <a:r>
              <a:rPr lang="en-US" dirty="0">
                <a:solidFill>
                  <a:schemeClr val="accent1"/>
                </a:solidFill>
              </a:rPr>
              <a:t>Resource Acquisition is Initialization</a:t>
            </a:r>
          </a:p>
          <a:p>
            <a:r>
              <a:rPr lang="en-US" dirty="0">
                <a:solidFill>
                  <a:schemeClr val="accent1"/>
                </a:solidFill>
              </a:rPr>
              <a:t>Ownership contracts</a:t>
            </a:r>
          </a:p>
          <a:p>
            <a:r>
              <a:rPr lang="en-US" dirty="0">
                <a:solidFill>
                  <a:schemeClr val="accent1"/>
                </a:solidFill>
              </a:rPr>
              <a:t>What is a smart pointer?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unique_ptr</a:t>
            </a:r>
            <a:r>
              <a:rPr lang="en-US" dirty="0">
                <a:solidFill>
                  <a:schemeClr val="accent1"/>
                </a:solidFill>
              </a:rPr>
              <a:t>, </a:t>
            </a:r>
            <a:r>
              <a:rPr lang="en-US" dirty="0" err="1">
                <a:solidFill>
                  <a:schemeClr val="accent1"/>
                </a:solidFill>
              </a:rPr>
              <a:t>shared_ptr</a:t>
            </a:r>
            <a:r>
              <a:rPr lang="en-US" dirty="0">
                <a:solidFill>
                  <a:schemeClr val="accent1"/>
                </a:solidFill>
              </a:rPr>
              <a:t>, and </a:t>
            </a:r>
            <a:r>
              <a:rPr lang="en-US" dirty="0" err="1">
                <a:solidFill>
                  <a:schemeClr val="accent1"/>
                </a:solidFill>
              </a:rPr>
              <a:t>weak_ptr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Best practices using smart pointers</a:t>
            </a:r>
          </a:p>
          <a:p>
            <a:r>
              <a:rPr lang="en-US" dirty="0">
                <a:solidFill>
                  <a:schemeClr val="accent1"/>
                </a:solidFill>
              </a:rPr>
              <a:t>Using RAII for all resources</a:t>
            </a:r>
          </a:p>
          <a:p>
            <a:r>
              <a:rPr lang="en-US" dirty="0">
                <a:solidFill>
                  <a:schemeClr val="accent1"/>
                </a:solidFill>
              </a:rPr>
              <a:t>Writing Your Own RAII Wrapper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365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4DA06-7DCF-5936-CFE8-4E4F200F8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3AC60-52DA-066C-73FD-3F908C786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/>
              <a:t>The resource management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A1A4F-08EC-260E-7B72-F02879F32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Resources: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memory, files, handles, mutexes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Resources are limited. Must be released.</a:t>
            </a:r>
          </a:p>
          <a:p>
            <a:r>
              <a:rPr lang="en-US" dirty="0">
                <a:solidFill>
                  <a:schemeClr val="accent1"/>
                </a:solidFill>
              </a:rPr>
              <a:t>Causes of leaks: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Manual pairing of allocate and release is error-prone.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Early return or throw statements can bypass release.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Ownership ambiguity</a:t>
            </a:r>
          </a:p>
          <a:p>
            <a:r>
              <a:rPr lang="en-US" dirty="0">
                <a:solidFill>
                  <a:schemeClr val="accent1"/>
                </a:solidFill>
              </a:rPr>
              <a:t>Impact of leaks: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Out of memory exceptions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File not written or cannot be read.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Deadlocks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Use after free</a:t>
            </a:r>
          </a:p>
        </p:txBody>
      </p:sp>
    </p:spTree>
    <p:extLst>
      <p:ext uri="{BB962C8B-B14F-4D97-AF65-F5344CB8AC3E}">
        <p14:creationId xmlns:p14="http://schemas.microsoft.com/office/powerpoint/2010/main" val="3481593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E0444-51DC-1AFC-6572-83B251AFA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CBA15-B6A1-8B0A-A7B5-389CB2A8F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Resource Acquisition is 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3B1E3-6B41-BBD8-4A4F-695A68D3C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Object lifetime guarantees in C++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Constructor is always called before use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Destructor is always called when leaving scope</a:t>
            </a:r>
          </a:p>
          <a:p>
            <a:r>
              <a:rPr lang="en-US" dirty="0">
                <a:solidFill>
                  <a:schemeClr val="accent1"/>
                </a:solidFill>
              </a:rPr>
              <a:t>However: pointers have no </a:t>
            </a:r>
            <a:r>
              <a:rPr lang="en-US" dirty="0" err="1">
                <a:solidFill>
                  <a:schemeClr val="accent1"/>
                </a:solidFill>
              </a:rPr>
              <a:t>ctor</a:t>
            </a:r>
            <a:r>
              <a:rPr lang="en-US" dirty="0">
                <a:solidFill>
                  <a:schemeClr val="accent1"/>
                </a:solidFill>
              </a:rPr>
              <a:t> and no </a:t>
            </a:r>
            <a:r>
              <a:rPr lang="en-US" dirty="0" err="1">
                <a:solidFill>
                  <a:schemeClr val="accent1"/>
                </a:solidFill>
              </a:rPr>
              <a:t>dtor</a:t>
            </a:r>
            <a:endParaRPr lang="en-US" dirty="0">
              <a:solidFill>
                <a:schemeClr val="accent1"/>
              </a:solidFill>
            </a:endParaRPr>
          </a:p>
          <a:p>
            <a:pPr lvl="1"/>
            <a:r>
              <a:rPr lang="en-US" dirty="0">
                <a:solidFill>
                  <a:schemeClr val="accent1"/>
                </a:solidFill>
              </a:rPr>
              <a:t>When you declare a pointer does not allocate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When you return a pointer it does not delete</a:t>
            </a:r>
          </a:p>
          <a:p>
            <a:r>
              <a:rPr lang="en-US" dirty="0">
                <a:solidFill>
                  <a:schemeClr val="accent1"/>
                </a:solidFill>
              </a:rPr>
              <a:t>If we wrap the pointer in an object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We can define the </a:t>
            </a:r>
            <a:r>
              <a:rPr lang="en-US" dirty="0" err="1">
                <a:solidFill>
                  <a:schemeClr val="accent1"/>
                </a:solidFill>
              </a:rPr>
              <a:t>ctor</a:t>
            </a:r>
            <a:r>
              <a:rPr lang="en-US" dirty="0">
                <a:solidFill>
                  <a:schemeClr val="accent1"/>
                </a:solidFill>
              </a:rPr>
              <a:t> and the </a:t>
            </a:r>
            <a:r>
              <a:rPr lang="en-US" dirty="0" err="1">
                <a:solidFill>
                  <a:schemeClr val="accent1"/>
                </a:solidFill>
              </a:rPr>
              <a:t>dtor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477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D3D2C-596B-EA1D-7EE6-B6FEBE2F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F1007-6F5A-A752-B7FC-CB8AA5E8E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RAII for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E82B9-00F1-B04D-78BA-B9FA99AA5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 the </a:t>
            </a:r>
            <a:r>
              <a:rPr lang="en-US" dirty="0" err="1">
                <a:solidFill>
                  <a:schemeClr val="accent1"/>
                </a:solidFill>
              </a:rPr>
              <a:t>ctor</a:t>
            </a:r>
            <a:r>
              <a:rPr lang="en-US" dirty="0">
                <a:solidFill>
                  <a:schemeClr val="accent1"/>
                </a:solidFill>
              </a:rPr>
              <a:t> we can allocate, in the </a:t>
            </a:r>
            <a:r>
              <a:rPr lang="en-US" dirty="0" err="1">
                <a:solidFill>
                  <a:schemeClr val="accent1"/>
                </a:solidFill>
              </a:rPr>
              <a:t>dtor</a:t>
            </a:r>
            <a:r>
              <a:rPr lang="en-US" dirty="0">
                <a:solidFill>
                  <a:schemeClr val="accent1"/>
                </a:solidFill>
              </a:rPr>
              <a:t> we can delete.</a:t>
            </a:r>
          </a:p>
          <a:p>
            <a:r>
              <a:rPr lang="en-US" dirty="0">
                <a:solidFill>
                  <a:schemeClr val="accent1"/>
                </a:solidFill>
              </a:rPr>
              <a:t>Two challenges: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The result is that we cannot return a wrapped pointer from a method.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The pointer is now embedded in the wrapper. We need a getter to access it.</a:t>
            </a:r>
          </a:p>
        </p:txBody>
      </p:sp>
    </p:spTree>
    <p:extLst>
      <p:ext uri="{BB962C8B-B14F-4D97-AF65-F5344CB8AC3E}">
        <p14:creationId xmlns:p14="http://schemas.microsoft.com/office/powerpoint/2010/main" val="2070856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7D272-BF4C-6EED-4D01-270AA0A7A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1CD45-3853-19A0-8B50-5B63EFF3F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Ownership contracts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8F0D7-9EA7-BBD6-3FE3-8E0E342AE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There are two ownership contracts in C++.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Unique: 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Only one object owns the resource at any one time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Ownership can be moved explicitly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The previous owner sees null after transfer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Shared: 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Multiple objects can own the resource at any time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The last to use the resource releases it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How is this achieved? Reference counting.</a:t>
            </a:r>
          </a:p>
        </p:txBody>
      </p:sp>
    </p:spTree>
    <p:extLst>
      <p:ext uri="{BB962C8B-B14F-4D97-AF65-F5344CB8AC3E}">
        <p14:creationId xmlns:p14="http://schemas.microsoft.com/office/powerpoint/2010/main" val="4273405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E984-FDAD-15D9-A598-90EBE9E09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D41D7-4939-992E-1176-64EADDFBE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What is a smart pointer?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58583-FB31-3DE1-97C6-A8F35BCFE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A smart pointer is a wrapper object that behaves like the raw pointer it wraps. </a:t>
            </a:r>
          </a:p>
          <a:p>
            <a:r>
              <a:rPr lang="en-US" dirty="0">
                <a:solidFill>
                  <a:schemeClr val="accent1"/>
                </a:solidFill>
              </a:rPr>
              <a:t>It is smart in that it enforces ownership contracts.</a:t>
            </a:r>
          </a:p>
          <a:p>
            <a:r>
              <a:rPr lang="en-US" dirty="0">
                <a:solidFill>
                  <a:schemeClr val="accent1"/>
                </a:solidFill>
              </a:rPr>
              <a:t>How can an object behave like a pointer?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It has a dereference operator (*)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It has a member access operator (-&gt;)</a:t>
            </a:r>
          </a:p>
          <a:p>
            <a:r>
              <a:rPr lang="en-US" dirty="0">
                <a:solidFill>
                  <a:schemeClr val="accent1"/>
                </a:solidFill>
              </a:rPr>
              <a:t>How does it enforce ownership contracts?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It uses logic in its </a:t>
            </a:r>
            <a:r>
              <a:rPr lang="en-US" dirty="0" err="1">
                <a:solidFill>
                  <a:schemeClr val="accent1"/>
                </a:solidFill>
              </a:rPr>
              <a:t>ctor</a:t>
            </a:r>
            <a:r>
              <a:rPr lang="en-US" dirty="0">
                <a:solidFill>
                  <a:schemeClr val="accent1"/>
                </a:solidFill>
              </a:rPr>
              <a:t> and </a:t>
            </a:r>
            <a:r>
              <a:rPr lang="en-US" dirty="0" err="1">
                <a:solidFill>
                  <a:schemeClr val="accent1"/>
                </a:solidFill>
              </a:rPr>
              <a:t>dtor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56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1D19C-8CC0-633E-A64E-509A03006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4F6D9-EDF6-1597-A229-79841BB23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Smart pointers in the standard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811B4-EB5C-B37A-E3C0-3212D9028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There are three smart pointers:</a:t>
            </a:r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unique_ptr</a:t>
            </a:r>
            <a:r>
              <a:rPr lang="en-US" dirty="0">
                <a:solidFill>
                  <a:schemeClr val="accent1"/>
                </a:solidFill>
              </a:rPr>
              <a:t>&lt;T&gt;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Enforces the unique ownership contract</a:t>
            </a:r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shared_ptr</a:t>
            </a:r>
            <a:r>
              <a:rPr lang="en-US" dirty="0">
                <a:solidFill>
                  <a:schemeClr val="accent1"/>
                </a:solidFill>
              </a:rPr>
              <a:t>&lt;T&gt;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Enforces the shared ownership contract</a:t>
            </a:r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weak_ptr</a:t>
            </a:r>
            <a:r>
              <a:rPr lang="en-US" dirty="0">
                <a:solidFill>
                  <a:schemeClr val="accent1"/>
                </a:solidFill>
              </a:rPr>
              <a:t>&lt;T&gt;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A non-owning observer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It points to a resource managed by a </a:t>
            </a:r>
            <a:r>
              <a:rPr lang="en-US" dirty="0" err="1">
                <a:solidFill>
                  <a:schemeClr val="accent1"/>
                </a:solidFill>
              </a:rPr>
              <a:t>shared_ptr</a:t>
            </a:r>
            <a:endParaRPr lang="en-US" dirty="0">
              <a:solidFill>
                <a:schemeClr val="accent1"/>
              </a:solidFill>
            </a:endParaRPr>
          </a:p>
          <a:p>
            <a:pPr lvl="2"/>
            <a:r>
              <a:rPr lang="en-US" dirty="0">
                <a:solidFill>
                  <a:schemeClr val="accent1"/>
                </a:solidFill>
              </a:rPr>
              <a:t>Used to break cyclical references that would otherwise cause permanent memory leaks.</a:t>
            </a:r>
          </a:p>
          <a:p>
            <a:pPr lvl="2"/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179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AC3A8-A9B8-DEFA-86B2-9E9F14A96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6E8AD-0521-4141-9BC6-A2D70A646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/>
              <a:t>unique_ptr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38FEC-48AA-CB77-F97E-E8D0D843E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Accepts the raw pointer in its </a:t>
            </a:r>
            <a:r>
              <a:rPr lang="en-US" dirty="0" err="1">
                <a:solidFill>
                  <a:schemeClr val="accent1"/>
                </a:solidFill>
              </a:rPr>
              <a:t>ctor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Deletes the raw pointer in its </a:t>
            </a:r>
            <a:r>
              <a:rPr lang="en-US" dirty="0" err="1">
                <a:solidFill>
                  <a:schemeClr val="accent1"/>
                </a:solidFill>
              </a:rPr>
              <a:t>dtor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Enforces unique ownership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Copying does not compile</a:t>
            </a:r>
          </a:p>
          <a:p>
            <a:r>
              <a:rPr lang="en-US" dirty="0">
                <a:solidFill>
                  <a:schemeClr val="accent1"/>
                </a:solidFill>
              </a:rPr>
              <a:t>Enforces transfer of ownership when moved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After being moved, the source has its pointer nullified.</a:t>
            </a:r>
          </a:p>
        </p:txBody>
      </p:sp>
    </p:spTree>
    <p:extLst>
      <p:ext uri="{BB962C8B-B14F-4D97-AF65-F5344CB8AC3E}">
        <p14:creationId xmlns:p14="http://schemas.microsoft.com/office/powerpoint/2010/main" val="576674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4BFC2-61FE-A0D1-C81D-6E710E2AA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608B-CAA7-DABC-1421-77E584036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/>
              <a:t>shared_ptr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0AB50-754F-37C4-8CF7-7ECEA168B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Accepts the raw pointer in its </a:t>
            </a:r>
            <a:r>
              <a:rPr lang="en-US" dirty="0" err="1">
                <a:solidFill>
                  <a:schemeClr val="accent1"/>
                </a:solidFill>
              </a:rPr>
              <a:t>ctor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In the constructor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Increments a reference counter for the pointer</a:t>
            </a:r>
          </a:p>
          <a:p>
            <a:r>
              <a:rPr lang="en-US" dirty="0">
                <a:solidFill>
                  <a:schemeClr val="accent1"/>
                </a:solidFill>
              </a:rPr>
              <a:t>In the destructor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Decrements the reference counter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Deletes the pointer (and the counter) if 0</a:t>
            </a:r>
          </a:p>
        </p:txBody>
      </p:sp>
    </p:spTree>
    <p:extLst>
      <p:ext uri="{BB962C8B-B14F-4D97-AF65-F5344CB8AC3E}">
        <p14:creationId xmlns:p14="http://schemas.microsoft.com/office/powerpoint/2010/main" val="984086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6A401-7128-C6C9-48D9-1D518A41D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C800-AB5E-3C49-9E03-74A616D62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/>
              <a:t>weak_ptr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4ECEC-D859-6BF8-9B3C-15D4A95DB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Usage: Cannot access the pointer directly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Operators * and -&gt; are omitted.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It must be temporarily upgraded to a </a:t>
            </a:r>
            <a:r>
              <a:rPr lang="en-US" dirty="0" err="1">
                <a:solidFill>
                  <a:schemeClr val="accent1"/>
                </a:solidFill>
              </a:rPr>
              <a:t>shared_ptr</a:t>
            </a:r>
            <a:r>
              <a:rPr lang="en-US" dirty="0">
                <a:solidFill>
                  <a:schemeClr val="accent1"/>
                </a:solidFill>
              </a:rPr>
              <a:t> using .lock() to check if the resource still exists.</a:t>
            </a:r>
          </a:p>
          <a:p>
            <a:r>
              <a:rPr lang="en-US" dirty="0">
                <a:solidFill>
                  <a:schemeClr val="accent1"/>
                </a:solidFill>
              </a:rPr>
              <a:t>Constructor: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Accepts a </a:t>
            </a:r>
            <a:r>
              <a:rPr lang="en-US" dirty="0" err="1">
                <a:solidFill>
                  <a:schemeClr val="accent1"/>
                </a:solidFill>
              </a:rPr>
              <a:t>shared_ptr</a:t>
            </a:r>
            <a:r>
              <a:rPr lang="en-US" dirty="0">
                <a:solidFill>
                  <a:schemeClr val="accent1"/>
                </a:solidFill>
              </a:rPr>
              <a:t> or another </a:t>
            </a:r>
            <a:r>
              <a:rPr lang="en-US" dirty="0" err="1">
                <a:solidFill>
                  <a:schemeClr val="accent1"/>
                </a:solidFill>
              </a:rPr>
              <a:t>weak_ptr</a:t>
            </a:r>
            <a:r>
              <a:rPr lang="en-US" dirty="0">
                <a:solidFill>
                  <a:schemeClr val="accent1"/>
                </a:solidFill>
              </a:rPr>
              <a:t>.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It increments the weak count in the control block but leaves the strong count (resource ref count) unchanged.</a:t>
            </a:r>
          </a:p>
          <a:p>
            <a:r>
              <a:rPr lang="en-US" dirty="0">
                <a:solidFill>
                  <a:schemeClr val="accent1"/>
                </a:solidFill>
              </a:rPr>
              <a:t>Destructor: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Decrements the weak count.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If both strong and weak counts reach zero, the control block itself is deleted from memory.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It never deletes the resource.</a:t>
            </a:r>
          </a:p>
        </p:txBody>
      </p:sp>
    </p:spTree>
    <p:extLst>
      <p:ext uri="{BB962C8B-B14F-4D97-AF65-F5344CB8AC3E}">
        <p14:creationId xmlns:p14="http://schemas.microsoft.com/office/powerpoint/2010/main" val="1409886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45977-40D5-6E74-7555-4BBE099EE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A6235-4E71-5F3D-63C4-F95FEA751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Best practices using smart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D9A00-7B6E-C8A3-839A-406BEEE8D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Avoid direct new: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Prefer std::</a:t>
            </a:r>
            <a:r>
              <a:rPr lang="en-US" dirty="0" err="1">
                <a:solidFill>
                  <a:schemeClr val="accent1"/>
                </a:solidFill>
              </a:rPr>
              <a:t>make_unique</a:t>
            </a:r>
            <a:r>
              <a:rPr lang="en-US" dirty="0">
                <a:solidFill>
                  <a:schemeClr val="accent1"/>
                </a:solidFill>
              </a:rPr>
              <a:t> and std::</a:t>
            </a:r>
            <a:r>
              <a:rPr lang="en-US" dirty="0" err="1">
                <a:solidFill>
                  <a:schemeClr val="accent1"/>
                </a:solidFill>
              </a:rPr>
              <a:t>make_shared</a:t>
            </a:r>
            <a:endParaRPr lang="en-US" dirty="0">
              <a:solidFill>
                <a:schemeClr val="accent1"/>
              </a:solidFill>
            </a:endParaRPr>
          </a:p>
          <a:p>
            <a:pPr lvl="1"/>
            <a:r>
              <a:rPr lang="en-US" dirty="0">
                <a:solidFill>
                  <a:schemeClr val="accent1"/>
                </a:solidFill>
              </a:rPr>
              <a:t>They are more efficient and provide better exception safety.</a:t>
            </a:r>
          </a:p>
          <a:p>
            <a:r>
              <a:rPr lang="en-US" dirty="0">
                <a:solidFill>
                  <a:schemeClr val="accent1"/>
                </a:solidFill>
              </a:rPr>
              <a:t>Never call delete on a wrapped pointer </a:t>
            </a:r>
          </a:p>
          <a:p>
            <a:r>
              <a:rPr lang="en-US" dirty="0">
                <a:solidFill>
                  <a:schemeClr val="accent1"/>
                </a:solidFill>
              </a:rPr>
              <a:t>Never initializing two smart pointers from the same raw pointer</a:t>
            </a:r>
          </a:p>
        </p:txBody>
      </p:sp>
    </p:spTree>
    <p:extLst>
      <p:ext uri="{BB962C8B-B14F-4D97-AF65-F5344CB8AC3E}">
        <p14:creationId xmlns:p14="http://schemas.microsoft.com/office/powerpoint/2010/main" val="3401629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50F1D-C6E9-6F10-CF99-341D30E0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F86B3-D678-8FF4-7079-EDCE5C31B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Best practices using smart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6B9FD-6383-BC55-8235-AA0C9CA2C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Default to std::</a:t>
            </a:r>
            <a:r>
              <a:rPr lang="en-US" dirty="0" err="1">
                <a:solidFill>
                  <a:schemeClr val="accent1"/>
                </a:solidFill>
              </a:rPr>
              <a:t>unique_ptr</a:t>
            </a:r>
            <a:r>
              <a:rPr lang="en-US" dirty="0">
                <a:solidFill>
                  <a:schemeClr val="accent1"/>
                </a:solidFill>
              </a:rPr>
              <a:t>: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Prefer unique ownership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It has zero overhead compared to a raw pointer and clearly defines responsibility.  </a:t>
            </a:r>
          </a:p>
          <a:p>
            <a:r>
              <a:rPr lang="en-US" dirty="0">
                <a:solidFill>
                  <a:schemeClr val="accent1"/>
                </a:solidFill>
              </a:rPr>
              <a:t>Upgrade to std::</a:t>
            </a:r>
            <a:r>
              <a:rPr lang="en-US" dirty="0" err="1">
                <a:solidFill>
                  <a:schemeClr val="accent1"/>
                </a:solidFill>
              </a:rPr>
              <a:t>shared_ptr</a:t>
            </a:r>
            <a:r>
              <a:rPr lang="en-US" dirty="0">
                <a:solidFill>
                  <a:schemeClr val="accent1"/>
                </a:solidFill>
              </a:rPr>
              <a:t> only when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 resource truly has multiple, equal owners with unpredictable lifetimes.</a:t>
            </a:r>
          </a:p>
          <a:p>
            <a:r>
              <a:rPr lang="en-US" dirty="0">
                <a:solidFill>
                  <a:schemeClr val="accent1"/>
                </a:solidFill>
              </a:rPr>
              <a:t>Break cycles with std::</a:t>
            </a:r>
            <a:r>
              <a:rPr lang="en-US" dirty="0" err="1">
                <a:solidFill>
                  <a:schemeClr val="accent1"/>
                </a:solidFill>
              </a:rPr>
              <a:t>weak_ptr</a:t>
            </a:r>
            <a:r>
              <a:rPr lang="en-US" dirty="0">
                <a:solidFill>
                  <a:schemeClr val="accent1"/>
                </a:solidFill>
              </a:rPr>
              <a:t>: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Use weak pointers to prevent reference-count deadlocks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For example: back references (a child pointing to a parent) </a:t>
            </a:r>
          </a:p>
        </p:txBody>
      </p:sp>
    </p:spTree>
    <p:extLst>
      <p:ext uri="{BB962C8B-B14F-4D97-AF65-F5344CB8AC3E}">
        <p14:creationId xmlns:p14="http://schemas.microsoft.com/office/powerpoint/2010/main" val="2789312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728E2-E555-E7EA-F21C-E3ABC6405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8BE98-4882-A8DF-82AD-6BF8AE401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Best practices using smart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DC887-2229-BDBF-4C9B-727233384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Prefer const T&amp; or T&amp; for non-owning observation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Pass by reference when a function needs to use a resource that is guaranteed to exist and cannot be null.</a:t>
            </a:r>
          </a:p>
          <a:p>
            <a:r>
              <a:rPr lang="en-US" dirty="0">
                <a:solidFill>
                  <a:schemeClr val="accent1"/>
                </a:solidFill>
              </a:rPr>
              <a:t>Use T* only for optional observation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Use a raw pointer if the resource can be null or if the observer needs to be "rebound" to a different object later.</a:t>
            </a:r>
          </a:p>
          <a:p>
            <a:r>
              <a:rPr lang="en-US" dirty="0">
                <a:solidFill>
                  <a:schemeClr val="accent1"/>
                </a:solidFill>
              </a:rPr>
              <a:t>Don’t pass smart pointers by value: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Passing </a:t>
            </a:r>
            <a:r>
              <a:rPr lang="en-US" dirty="0" err="1">
                <a:solidFill>
                  <a:schemeClr val="accent1"/>
                </a:solidFill>
              </a:rPr>
              <a:t>shared_ptr</a:t>
            </a:r>
            <a:r>
              <a:rPr lang="en-US" dirty="0">
                <a:solidFill>
                  <a:schemeClr val="accent1"/>
                </a:solidFill>
              </a:rPr>
              <a:t> by value incurs reference-count overhead.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Unless a function is specifically intended to share or take ownership, </a:t>
            </a:r>
          </a:p>
          <a:p>
            <a:r>
              <a:rPr lang="en-US" dirty="0">
                <a:solidFill>
                  <a:schemeClr val="accent1"/>
                </a:solidFill>
              </a:rPr>
              <a:t>Respect lifetimes: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Ensure the “borrowed” raw reference or pointer does not outlive the smart pointer that actually owns the resource.</a:t>
            </a:r>
          </a:p>
        </p:txBody>
      </p:sp>
    </p:spTree>
    <p:extLst>
      <p:ext uri="{BB962C8B-B14F-4D97-AF65-F5344CB8AC3E}">
        <p14:creationId xmlns:p14="http://schemas.microsoft.com/office/powerpoint/2010/main" val="47306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1C9A3-74A1-ACF0-6D82-6E0360631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94925-1685-2428-4432-C83494710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Using RAII for all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93433-5819-C745-58F3-1AE765098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RAII applies to all system resources: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The pattern is not just for heap memory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It handles any resource that must be acquired and explicitly released.</a:t>
            </a:r>
          </a:p>
          <a:p>
            <a:r>
              <a:rPr lang="en-US" dirty="0">
                <a:solidFill>
                  <a:schemeClr val="accent1"/>
                </a:solidFill>
              </a:rPr>
              <a:t>File I/O (std::</a:t>
            </a:r>
            <a:r>
              <a:rPr lang="en-US" dirty="0" err="1">
                <a:solidFill>
                  <a:schemeClr val="accent1"/>
                </a:solidFill>
              </a:rPr>
              <a:t>fstream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Files are opened in the constructor and automatically flushed and closed in the destructor.</a:t>
            </a:r>
          </a:p>
          <a:p>
            <a:r>
              <a:rPr lang="en-US" dirty="0">
                <a:solidFill>
                  <a:schemeClr val="accent1"/>
                </a:solidFill>
              </a:rPr>
              <a:t>Concurrency (std::</a:t>
            </a:r>
            <a:r>
              <a:rPr lang="en-US" dirty="0" err="1">
                <a:solidFill>
                  <a:schemeClr val="accent1"/>
                </a:solidFill>
              </a:rPr>
              <a:t>lock_guard</a:t>
            </a:r>
            <a:r>
              <a:rPr lang="en-US" dirty="0">
                <a:solidFill>
                  <a:schemeClr val="accent1"/>
                </a:solidFill>
              </a:rPr>
              <a:t>):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Mutexes are locked on creation, preventing race conditions, and automatically unlocked when exiting the scope.</a:t>
            </a:r>
          </a:p>
        </p:txBody>
      </p:sp>
    </p:spTree>
    <p:extLst>
      <p:ext uri="{BB962C8B-B14F-4D97-AF65-F5344CB8AC3E}">
        <p14:creationId xmlns:p14="http://schemas.microsoft.com/office/powerpoint/2010/main" val="4175757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2D794-1429-4590-A4C9-3481C5831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E6417-269D-D4B9-6A7A-B9CFC7C58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Using RAII for all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9C2A0-21F9-B260-4B69-EBA8D5457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Network Sockets: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Network connections are established on initialization and torn down safely when the wrapper goes out of scope.</a:t>
            </a:r>
          </a:p>
          <a:p>
            <a:r>
              <a:rPr lang="en-US" dirty="0">
                <a:solidFill>
                  <a:schemeClr val="accent1"/>
                </a:solidFill>
              </a:rPr>
              <a:t>Database Connections: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Transactions or connection handles are managed deterministically, ensuring uncommitted work is rolled back on failure.</a:t>
            </a:r>
          </a:p>
        </p:txBody>
      </p:sp>
    </p:spTree>
    <p:extLst>
      <p:ext uri="{BB962C8B-B14F-4D97-AF65-F5344CB8AC3E}">
        <p14:creationId xmlns:p14="http://schemas.microsoft.com/office/powerpoint/2010/main" val="3051476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87A24-FD10-3818-68CD-207700F43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F14FF-BD8C-1BC6-DF84-6BE9ACBC5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/>
              <a:t>Writing your own RAII wrapper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A583E-7624-F1C2-5A49-9123A3F02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Identify the Cleanup: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Determine the specific API function required to release the resource (e.g., close(), </a:t>
            </a:r>
            <a:r>
              <a:rPr lang="en-US" dirty="0" err="1">
                <a:solidFill>
                  <a:schemeClr val="accent1"/>
                </a:solidFill>
              </a:rPr>
              <a:t>fclose</a:t>
            </a:r>
            <a:r>
              <a:rPr lang="en-US" dirty="0">
                <a:solidFill>
                  <a:schemeClr val="accent1"/>
                </a:solidFill>
              </a:rPr>
              <a:t>(), </a:t>
            </a:r>
            <a:r>
              <a:rPr lang="en-US" dirty="0" err="1">
                <a:solidFill>
                  <a:schemeClr val="accent1"/>
                </a:solidFill>
              </a:rPr>
              <a:t>ReleaseDC</a:t>
            </a:r>
            <a:r>
              <a:rPr lang="en-US" dirty="0">
                <a:solidFill>
                  <a:schemeClr val="accent1"/>
                </a:solidFill>
              </a:rPr>
              <a:t>()).</a:t>
            </a:r>
          </a:p>
          <a:p>
            <a:r>
              <a:rPr lang="en-US" dirty="0">
                <a:solidFill>
                  <a:schemeClr val="accent1"/>
                </a:solidFill>
              </a:rPr>
              <a:t>Define the </a:t>
            </a:r>
            <a:r>
              <a:rPr lang="en-US" dirty="0" err="1">
                <a:solidFill>
                  <a:schemeClr val="accent1"/>
                </a:solidFill>
              </a:rPr>
              <a:t>Deleter</a:t>
            </a:r>
            <a:r>
              <a:rPr lang="en-US" dirty="0">
                <a:solidFill>
                  <a:schemeClr val="accent1"/>
                </a:solidFill>
              </a:rPr>
              <a:t>: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Create a stateless functor (a struct with operator()) that calls the cleanup function.</a:t>
            </a:r>
          </a:p>
          <a:p>
            <a:r>
              <a:rPr lang="en-US" dirty="0">
                <a:solidFill>
                  <a:schemeClr val="accent1"/>
                </a:solidFill>
              </a:rPr>
              <a:t>Handle Non-Pointers: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If the resource is a primitive handle (like an int socket), define a pointer type alias inside the </a:t>
            </a:r>
            <a:r>
              <a:rPr lang="en-US" dirty="0" err="1">
                <a:solidFill>
                  <a:schemeClr val="accent1"/>
                </a:solidFill>
              </a:rPr>
              <a:t>deleter</a:t>
            </a:r>
            <a:r>
              <a:rPr lang="en-US" dirty="0">
                <a:solidFill>
                  <a:schemeClr val="accent1"/>
                </a:solidFill>
              </a:rPr>
              <a:t> to tell </a:t>
            </a:r>
            <a:r>
              <a:rPr lang="en-US" dirty="0" err="1">
                <a:solidFill>
                  <a:schemeClr val="accent1"/>
                </a:solidFill>
              </a:rPr>
              <a:t>unique_ptr</a:t>
            </a:r>
            <a:r>
              <a:rPr lang="en-US" dirty="0">
                <a:solidFill>
                  <a:schemeClr val="accent1"/>
                </a:solidFill>
              </a:rPr>
              <a:t> what to store.</a:t>
            </a:r>
          </a:p>
          <a:p>
            <a:r>
              <a:rPr lang="en-US" dirty="0">
                <a:solidFill>
                  <a:schemeClr val="accent1"/>
                </a:solidFill>
              </a:rPr>
              <a:t>Create a Type Alias: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Use using to define a clean, descriptive name for the std::</a:t>
            </a:r>
            <a:r>
              <a:rPr lang="en-US" dirty="0" err="1">
                <a:solidFill>
                  <a:schemeClr val="accent1"/>
                </a:solidFill>
              </a:rPr>
              <a:t>unique_ptr</a:t>
            </a:r>
            <a:r>
              <a:rPr lang="en-US" dirty="0">
                <a:solidFill>
                  <a:schemeClr val="accent1"/>
                </a:solidFill>
              </a:rPr>
              <a:t>&lt;Resource, </a:t>
            </a:r>
            <a:r>
              <a:rPr lang="en-US" dirty="0" err="1">
                <a:solidFill>
                  <a:schemeClr val="accent1"/>
                </a:solidFill>
              </a:rPr>
              <a:t>Deleter</a:t>
            </a:r>
            <a:r>
              <a:rPr lang="en-US" dirty="0">
                <a:solidFill>
                  <a:schemeClr val="accent1"/>
                </a:solidFill>
              </a:rPr>
              <a:t>&gt; template.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62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55E0-6232-3F2A-A371-0A48AEFEE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FC68F-8704-A4D4-8C0C-461910FB5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32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</TotalTime>
  <Words>1104</Words>
  <Application>Microsoft Office PowerPoint</Application>
  <PresentationFormat>On-screen Show (4:3)</PresentationFormat>
  <Paragraphs>140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RAII and Memory Management</vt:lpstr>
      <vt:lpstr>Agenda</vt:lpstr>
      <vt:lpstr>The resource management problem</vt:lpstr>
      <vt:lpstr>Resource Acquisition is Initialization</vt:lpstr>
      <vt:lpstr>RAII for memory</vt:lpstr>
      <vt:lpstr>Ownership contracts</vt:lpstr>
      <vt:lpstr>What is a smart pointer?</vt:lpstr>
      <vt:lpstr>Smart pointers in the standard library</vt:lpstr>
      <vt:lpstr>unique_ptr</vt:lpstr>
      <vt:lpstr>shared_ptr</vt:lpstr>
      <vt:lpstr>weak_ptr</vt:lpstr>
      <vt:lpstr>Best practices using smart pointers</vt:lpstr>
      <vt:lpstr>Best practices using smart pointers</vt:lpstr>
      <vt:lpstr>Best practices using smart pointers</vt:lpstr>
      <vt:lpstr>Using RAII for all resources</vt:lpstr>
      <vt:lpstr>Using RAII for all resources</vt:lpstr>
      <vt:lpstr>Writing your own RAII wrapper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Sackstein</dc:creator>
  <cp:lastModifiedBy>David Sackstein</cp:lastModifiedBy>
  <cp:revision>578</cp:revision>
  <dcterms:created xsi:type="dcterms:W3CDTF">2018-03-26T13:04:32Z</dcterms:created>
  <dcterms:modified xsi:type="dcterms:W3CDTF">2026-06-28T00:08:21Z</dcterms:modified>
</cp:coreProperties>
</file>